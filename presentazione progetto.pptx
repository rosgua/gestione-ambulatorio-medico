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9" r:id="rId2"/>
    <p:sldId id="258" r:id="rId3"/>
    <p:sldId id="259" r:id="rId4"/>
    <p:sldId id="260" r:id="rId5"/>
    <p:sldId id="261" r:id="rId6"/>
    <p:sldId id="268" r:id="rId7"/>
    <p:sldId id="263" r:id="rId8"/>
    <p:sldId id="264" r:id="rId9"/>
    <p:sldId id="265" r:id="rId10"/>
    <p:sldId id="267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zione predefinita" id="{43E64A01-A435-48EA-AFAC-631CAFAD0B2E}">
          <p14:sldIdLst>
            <p14:sldId id="269"/>
            <p14:sldId id="258"/>
            <p14:sldId id="259"/>
            <p14:sldId id="260"/>
            <p14:sldId id="261"/>
          </p14:sldIdLst>
        </p14:section>
        <p14:section name="Sezione senza titolo" id="{923F947F-9212-4351-87DC-50BBF942BD8F}">
          <p14:sldIdLst>
            <p14:sldId id="268"/>
            <p14:sldId id="263"/>
            <p14:sldId id="264"/>
            <p14:sldId id="265"/>
            <p14:sldId id="267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681" autoAdjust="0"/>
    <p:restoredTop sz="94660"/>
  </p:normalViewPr>
  <p:slideViewPr>
    <p:cSldViewPr snapToGrid="0">
      <p:cViewPr varScale="1">
        <p:scale>
          <a:sx n="82" d="100"/>
          <a:sy n="82" d="100"/>
        </p:scale>
        <p:origin x="7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ssella guarino" userId="bb67dd7ac4bcc5f1" providerId="LiveId" clId="{A03D29A2-9263-4744-8B63-0362AF9EE3E4}"/>
    <pc:docChg chg="modSld">
      <pc:chgData name="rossella guarino" userId="bb67dd7ac4bcc5f1" providerId="LiveId" clId="{A03D29A2-9263-4744-8B63-0362AF9EE3E4}" dt="2026-02-24T16:30:20.644" v="3" actId="1076"/>
      <pc:docMkLst>
        <pc:docMk/>
      </pc:docMkLst>
      <pc:sldChg chg="modSp mod">
        <pc:chgData name="rossella guarino" userId="bb67dd7ac4bcc5f1" providerId="LiveId" clId="{A03D29A2-9263-4744-8B63-0362AF9EE3E4}" dt="2026-02-24T16:30:20.644" v="3" actId="1076"/>
        <pc:sldMkLst>
          <pc:docMk/>
          <pc:sldMk cId="0" sldId="269"/>
        </pc:sldMkLst>
        <pc:picChg chg="mod">
          <ac:chgData name="rossella guarino" userId="bb67dd7ac4bcc5f1" providerId="LiveId" clId="{A03D29A2-9263-4744-8B63-0362AF9EE3E4}" dt="2026-02-24T16:30:13.011" v="0" actId="1076"/>
          <ac:picMkLst>
            <pc:docMk/>
            <pc:sldMk cId="0" sldId="269"/>
            <ac:picMk id="6" creationId="{26FC71B5-4CAD-C297-D8D7-9360AFFCBCDD}"/>
          </ac:picMkLst>
        </pc:picChg>
        <pc:picChg chg="mod">
          <ac:chgData name="rossella guarino" userId="bb67dd7ac4bcc5f1" providerId="LiveId" clId="{A03D29A2-9263-4744-8B63-0362AF9EE3E4}" dt="2026-02-24T16:30:20.644" v="3" actId="1076"/>
          <ac:picMkLst>
            <pc:docMk/>
            <pc:sldMk cId="0" sldId="269"/>
            <ac:picMk id="7" creationId="{9B2047E5-7948-0AB2-17BD-C26283D5A10E}"/>
          </ac:picMkLst>
        </pc:picChg>
        <pc:picChg chg="mod">
          <ac:chgData name="rossella guarino" userId="bb67dd7ac4bcc5f1" providerId="LiveId" clId="{A03D29A2-9263-4744-8B63-0362AF9EE3E4}" dt="2026-02-24T16:30:15.586" v="1" actId="1076"/>
          <ac:picMkLst>
            <pc:docMk/>
            <pc:sldMk cId="0" sldId="269"/>
            <ac:picMk id="8" creationId="{8FCD14DB-72B3-D844-4FB1-A5A7F157067F}"/>
          </ac:picMkLst>
        </pc:picChg>
        <pc:picChg chg="mod">
          <ac:chgData name="rossella guarino" userId="bb67dd7ac4bcc5f1" providerId="LiveId" clId="{A03D29A2-9263-4744-8B63-0362AF9EE3E4}" dt="2026-02-24T16:30:17.631" v="2" actId="1076"/>
          <ac:picMkLst>
            <pc:docMk/>
            <pc:sldMk cId="0" sldId="269"/>
            <ac:picMk id="9" creationId="{18103F3C-6E5E-A2C1-B361-04AC0C76B84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1233FA-FACD-4062-9AAB-FFF10D94B730}" type="datetimeFigureOut">
              <a:rPr lang="it-IT" smtClean="0"/>
              <a:t>24/02/2026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C5446-8E4B-4A3A-8FD9-67F06106ED2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45016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20D525F9-C96F-9B44-88BB-D1132A1C08E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27EBB77E-5EE6-4B98-B242-AA50B5FFBE65}" type="slidenum">
              <a:t>1</a:t>
            </a:fld>
            <a:endParaRPr lang="zxx-none"/>
          </a:p>
        </p:txBody>
      </p:sp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2A017D5C-9723-5A56-3733-223694944AB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CC01E1FA-984A-5AE0-AAD7-B6B679F6727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>
            <a:spAutoFit/>
          </a:bodyPr>
          <a:lstStyle/>
          <a:p>
            <a:endParaRPr lang="zxx-none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68760-90E5-41CC-9344-F5A596231FFF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168DF-7FC0-448F-A5D5-3D7E2C4FC18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241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68760-90E5-41CC-9344-F5A596231FFF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168DF-7FC0-448F-A5D5-3D7E2C4FC18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964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68760-90E5-41CC-9344-F5A596231FFF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168DF-7FC0-448F-A5D5-3D7E2C4FC18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515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68760-90E5-41CC-9344-F5A596231FFF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168DF-7FC0-448F-A5D5-3D7E2C4FC18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60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68760-90E5-41CC-9344-F5A596231FFF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168DF-7FC0-448F-A5D5-3D7E2C4FC18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608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68760-90E5-41CC-9344-F5A596231FFF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168DF-7FC0-448F-A5D5-3D7E2C4FC18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386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68760-90E5-41CC-9344-F5A596231FFF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168DF-7FC0-448F-A5D5-3D7E2C4FC18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604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68760-90E5-41CC-9344-F5A596231FFF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168DF-7FC0-448F-A5D5-3D7E2C4FC18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004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68760-90E5-41CC-9344-F5A596231FFF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168DF-7FC0-448F-A5D5-3D7E2C4FC18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54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68760-90E5-41CC-9344-F5A596231FFF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168DF-7FC0-448F-A5D5-3D7E2C4FC18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694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68760-90E5-41CC-9344-F5A596231FFF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168DF-7FC0-448F-A5D5-3D7E2C4FC18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072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C68760-90E5-41CC-9344-F5A596231FFF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0168DF-7FC0-448F-A5D5-3D7E2C4FC18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541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 1">
            <a:extLst>
              <a:ext uri="{FF2B5EF4-FFF2-40B4-BE49-F238E27FC236}">
                <a16:creationId xmlns:a16="http://schemas.microsoft.com/office/drawing/2014/main" id="{BF3A330F-EFA8-53A5-E904-5A498CD889A8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2176691" y="529069"/>
            <a:ext cx="5551953" cy="1103859"/>
          </a:xfrm>
        </p:spPr>
        <p:txBody>
          <a:bodyPr anchor="ctr"/>
          <a:lstStyle/>
          <a:p>
            <a:pPr lvl="0" algn="ctr"/>
            <a:r>
              <a:rPr lang="zxx-none" sz="1452" b="1"/>
              <a:t>UNIVERSITA' DEGLI STUDI DI SALERNO</a:t>
            </a:r>
          </a:p>
          <a:p>
            <a:pPr lvl="0" algn="ctr"/>
            <a:r>
              <a:rPr lang="zxx-none" sz="1452" b="1"/>
              <a:t>DIPARTIMENTO DI SCIENZE ECONOMICHE E STATISTICHE</a:t>
            </a:r>
          </a:p>
          <a:p>
            <a:pPr lvl="0" algn="ctr"/>
            <a:r>
              <a:rPr lang="zxx-none" sz="1452" b="1"/>
              <a:t>STATISTICA PER I BIG DATA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B61046E7-B76E-C0D4-9F8E-B9B842DED580}"/>
              </a:ext>
            </a:extLst>
          </p:cNvPr>
          <p:cNvSpPr txBox="1"/>
          <p:nvPr/>
        </p:nvSpPr>
        <p:spPr>
          <a:xfrm>
            <a:off x="2470885" y="2769772"/>
            <a:ext cx="6968801" cy="1527262"/>
          </a:xfrm>
          <a:prstGeom prst="rect">
            <a:avLst/>
          </a:prstGeom>
          <a:noFill/>
          <a:ln>
            <a:noFill/>
          </a:ln>
        </p:spPr>
        <p:txBody>
          <a:bodyPr vert="horz" wrap="none" lIns="81646" tIns="40823" rIns="81646" bIns="40823" anchorCtr="0" compatLnSpc="0">
            <a:spAutoFit/>
          </a:bodyPr>
          <a:lstStyle/>
          <a:p>
            <a:pPr algn="ctr" hangingPunct="0"/>
            <a:r>
              <a:rPr lang="de-DE" sz="2903" b="1">
                <a:latin typeface="Arial" pitchFamily="18"/>
                <a:ea typeface="Andale Sans UI" pitchFamily="2"/>
                <a:cs typeface="Tahoma" pitchFamily="2"/>
              </a:rPr>
              <a:t>PROGETTO 'BASI DI DATI':</a:t>
            </a:r>
          </a:p>
          <a:p>
            <a:pPr algn="ctr" hangingPunct="0"/>
            <a:endParaRPr lang="de-DE" sz="2903" b="1">
              <a:latin typeface="Arial" pitchFamily="18"/>
              <a:ea typeface="Andale Sans UI" pitchFamily="2"/>
              <a:cs typeface="Tahoma" pitchFamily="2"/>
            </a:endParaRPr>
          </a:p>
          <a:p>
            <a:pPr algn="ctr" hangingPunct="0"/>
            <a:r>
              <a:rPr lang="de-DE" sz="3992" b="1">
                <a:latin typeface="Arial" pitchFamily="18"/>
                <a:ea typeface="Andale Sans UI" pitchFamily="2"/>
                <a:cs typeface="Tahoma" pitchFamily="2"/>
              </a:rPr>
              <a:t>'GESTIONE AMBULATORIO'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265A7F65-688F-6541-96EC-01199B6E7D85}"/>
              </a:ext>
            </a:extLst>
          </p:cNvPr>
          <p:cNvSpPr txBox="1"/>
          <p:nvPr/>
        </p:nvSpPr>
        <p:spPr>
          <a:xfrm>
            <a:off x="2176692" y="5493495"/>
            <a:ext cx="9154463" cy="564114"/>
          </a:xfrm>
          <a:prstGeom prst="rect">
            <a:avLst/>
          </a:prstGeom>
          <a:noFill/>
          <a:ln>
            <a:noFill/>
          </a:ln>
        </p:spPr>
        <p:txBody>
          <a:bodyPr vert="horz" wrap="none" lIns="81646" tIns="40823" rIns="81646" bIns="40823" compatLnSpc="0">
            <a:spAutoFit/>
          </a:bodyPr>
          <a:lstStyle/>
          <a:p>
            <a:pPr hangingPunct="0"/>
            <a:r>
              <a:rPr lang="de-DE" sz="1633" b="1">
                <a:latin typeface="Arial" pitchFamily="18"/>
                <a:ea typeface="Andale Sans UI" pitchFamily="2"/>
                <a:cs typeface="Tahoma" pitchFamily="2"/>
              </a:rPr>
              <a:t>Docente: GIUSEPPE FENZA</a:t>
            </a:r>
          </a:p>
          <a:p>
            <a:pPr hangingPunct="0"/>
            <a:r>
              <a:rPr lang="de-DE" sz="1633" b="1">
                <a:latin typeface="Arial" pitchFamily="18"/>
                <a:ea typeface="Andale Sans UI" pitchFamily="2"/>
                <a:cs typeface="Tahoma" pitchFamily="2"/>
              </a:rPr>
              <a:t>Studentesse: CARNEVALE MICHELA, CELENTANO GLORIA MARIA, GUARINO ROSSELLA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5DEC8A18-EC5B-C594-C2EB-74A8825DD693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8055230" y="326586"/>
            <a:ext cx="2044098" cy="1959513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26FC71B5-4CAD-C297-D8D7-9360AFFCBCDD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9922592" y="2468557"/>
            <a:ext cx="1333122" cy="182593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9B2047E5-7948-0AB2-17BD-C26283D5A10E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11493681" y="3958543"/>
            <a:ext cx="489878" cy="713589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8FCD14DB-72B3-D844-4FB1-A5A7F157067F}"/>
              </a:ext>
            </a:extLst>
          </p:cNvPr>
          <p:cNvPicPr>
            <a:picLocks noChangeAspect="1"/>
          </p:cNvPicPr>
          <p:nvPr/>
        </p:nvPicPr>
        <p:blipFill>
          <a:blip r:embed="rId6">
            <a:lum/>
            <a:alphaModFix/>
          </a:blip>
          <a:srcRect/>
          <a:stretch>
            <a:fillRect/>
          </a:stretch>
        </p:blipFill>
        <p:spPr>
          <a:xfrm>
            <a:off x="9565361" y="3855668"/>
            <a:ext cx="489878" cy="816464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Elemento grafico 8">
            <a:extLst>
              <a:ext uri="{FF2B5EF4-FFF2-40B4-BE49-F238E27FC236}">
                <a16:creationId xmlns:a16="http://schemas.microsoft.com/office/drawing/2014/main" id="{18103F3C-6E5E-A2C1-B361-04AC0C76B84A}"/>
              </a:ext>
            </a:extLst>
          </p:cNvPr>
          <p:cNvPicPr>
            <a:picLocks noChangeAspect="1"/>
          </p:cNvPicPr>
          <p:nvPr/>
        </p:nvPicPr>
        <p:blipFill>
          <a:blip r:embed="rId7">
            <a:lum/>
            <a:alphaModFix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>
          <a:xfrm>
            <a:off x="10589153" y="3633826"/>
            <a:ext cx="641087" cy="751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                          </a:t>
            </a:r>
            <a:r>
              <a:rPr lang="it-IT" dirty="0">
                <a:latin typeface="Algerian" panose="04020705040A02060702" pitchFamily="82" charset="0"/>
              </a:rPr>
              <a:t>introduzione</a:t>
            </a:r>
            <a:endParaRPr lang="en-US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838200" y="1764079"/>
            <a:ext cx="10515600" cy="4351338"/>
          </a:xfrm>
        </p:spPr>
        <p:txBody>
          <a:bodyPr/>
          <a:lstStyle/>
          <a:p>
            <a:pPr marL="0" indent="0" algn="ctr">
              <a:buNone/>
            </a:pPr>
            <a:r>
              <a:rPr lang="it-IT" dirty="0"/>
              <a:t>Il sistema di gestione dell'ambulatorio medico permette di organizzare le informazioni sui pazienti, gli appuntamenti, il personale sanitario, i reparti, le prescrizioni mediche, i risultati dei test diagnostici, le cartelle cliniche elettroniche e l'analisi delle performance ospedaliere. Questo sistema ottimizza la gestione delle informazioni sanitarie, il percorso di cura e l'analisi dei dati per migliorare la qualità delle cure fornite.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7447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               </a:t>
            </a:r>
            <a:r>
              <a:rPr lang="it-IT" dirty="0">
                <a:latin typeface="Algerian" panose="04020705040A02060702" pitchFamily="82" charset="0"/>
              </a:rPr>
              <a:t>  REGOLE DI BUSINESS</a:t>
            </a:r>
            <a:endParaRPr lang="en-US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it-IT" dirty="0"/>
              <a:t>Ogni paziente possiede una cartella clinica unica che comprende la storia medica, composta dai vari interventi, esami, vaccini e terapie dei </a:t>
            </a:r>
            <a:r>
              <a:rPr lang="it-IT" dirty="0" err="1"/>
              <a:t>pazienti..Gli</a:t>
            </a:r>
            <a:r>
              <a:rPr lang="it-IT" dirty="0"/>
              <a:t> appuntamenti devono essere fissati in base alla disponibilità del personale sanitario e alle esigenze dei </a:t>
            </a:r>
            <a:r>
              <a:rPr lang="it-IT" dirty="0" err="1"/>
              <a:t>pazienti.Le</a:t>
            </a:r>
            <a:r>
              <a:rPr lang="it-IT" dirty="0"/>
              <a:t> prescrizioni devono essere gestite e monitorate per assicurare il dosaggio corretto e la possibilità di </a:t>
            </a:r>
            <a:r>
              <a:rPr lang="it-IT" dirty="0" err="1"/>
              <a:t>rinnovo.È</a:t>
            </a:r>
            <a:r>
              <a:rPr lang="it-IT" dirty="0"/>
              <a:t> necessario mantenere un registro del personale sanitario, che includa medici, infermieri e specialisti, con le loro specializzazioni e disponibilità.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8485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8200" y="1191602"/>
            <a:ext cx="10515600" cy="1325563"/>
          </a:xfrm>
        </p:spPr>
        <p:txBody>
          <a:bodyPr/>
          <a:lstStyle/>
          <a:p>
            <a:r>
              <a:rPr lang="it-IT" dirty="0"/>
              <a:t>               </a:t>
            </a:r>
            <a:r>
              <a:rPr lang="it-IT" dirty="0">
                <a:latin typeface="Algerian" panose="04020705040A02060702" pitchFamily="82" charset="0"/>
              </a:rPr>
              <a:t>OBIETTIVO DEL DATABASE</a:t>
            </a:r>
            <a:endParaRPr lang="en-US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838200" y="3153263"/>
            <a:ext cx="10515600" cy="2350721"/>
          </a:xfrm>
        </p:spPr>
        <p:txBody>
          <a:bodyPr/>
          <a:lstStyle/>
          <a:p>
            <a:pPr marL="0" indent="0" algn="ctr">
              <a:buNone/>
            </a:pPr>
            <a:r>
              <a:rPr lang="it-IT" dirty="0"/>
              <a:t>Il database deve supportare le operazioni quotidiane del sistema sanitario, gestire efficacemente le informazioni sui pazienti, organizzare appuntamenti, archiviare cartelle cliniche, gestire prescrizioni e fornire report per supportare le decisioni mediche e amministrative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268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                    </a:t>
            </a:r>
            <a:r>
              <a:rPr lang="it-IT" dirty="0">
                <a:latin typeface="Algerian" panose="04020705040A02060702" pitchFamily="82" charset="0"/>
              </a:rPr>
              <a:t>DIAGRAMMA ERR</a:t>
            </a:r>
            <a:endParaRPr lang="en-US" dirty="0"/>
          </a:p>
        </p:txBody>
      </p:sp>
      <p:pic>
        <p:nvPicPr>
          <p:cNvPr id="4" name="Segnaposto contenut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2423" y="1872546"/>
            <a:ext cx="7297616" cy="4809607"/>
          </a:xfrm>
        </p:spPr>
      </p:pic>
    </p:spTree>
    <p:extLst>
      <p:ext uri="{BB962C8B-B14F-4D97-AF65-F5344CB8AC3E}">
        <p14:creationId xmlns:p14="http://schemas.microsoft.com/office/powerpoint/2010/main" val="1849062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32692" y="118941"/>
            <a:ext cx="10515600" cy="1325563"/>
          </a:xfrm>
        </p:spPr>
        <p:txBody>
          <a:bodyPr/>
          <a:lstStyle/>
          <a:p>
            <a:r>
              <a:rPr lang="it-IT" dirty="0"/>
              <a:t>               </a:t>
            </a:r>
            <a:r>
              <a:rPr lang="it-IT" dirty="0">
                <a:latin typeface="Algerian" panose="04020705040A02060702" pitchFamily="82" charset="0"/>
              </a:rPr>
              <a:t>MODELLO RELAZIONALE</a:t>
            </a:r>
            <a:endParaRPr lang="en-US" dirty="0">
              <a:latin typeface="Algerian" panose="04020705040A02060702" pitchFamily="82" charset="0"/>
            </a:endParaRP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83222" y="1157410"/>
            <a:ext cx="11937023" cy="4351338"/>
          </a:xfrm>
        </p:spPr>
        <p:txBody>
          <a:bodyPr>
            <a:noAutofit/>
          </a:bodyPr>
          <a:lstStyle/>
          <a:p>
            <a:r>
              <a:rPr lang="it-IT" sz="1400" b="1" dirty="0"/>
              <a:t>Paziente</a:t>
            </a:r>
            <a:r>
              <a:rPr lang="it-IT" sz="1400" dirty="0"/>
              <a:t>(</a:t>
            </a:r>
            <a:r>
              <a:rPr lang="it-IT" sz="1400" u="sng" dirty="0"/>
              <a:t>pazienteID</a:t>
            </a:r>
            <a:r>
              <a:rPr lang="it-IT" sz="1400" dirty="0"/>
              <a:t>,Nome,Cognome,Via,città_residenza,postalcode,gender,borndate,città_nascita,email,phonenumber)</a:t>
            </a:r>
            <a:endParaRPr lang="en-US" sz="1400" dirty="0"/>
          </a:p>
          <a:p>
            <a:r>
              <a:rPr lang="it-IT" sz="1400" b="1" dirty="0" err="1"/>
              <a:t>CartellaClinica</a:t>
            </a:r>
            <a:r>
              <a:rPr lang="it-IT" sz="1400" dirty="0"/>
              <a:t>(</a:t>
            </a:r>
            <a:r>
              <a:rPr lang="it-IT" sz="1400" u="sng" dirty="0" err="1"/>
              <a:t>codice_cartella</a:t>
            </a:r>
            <a:r>
              <a:rPr lang="it-IT" sz="1400" dirty="0" err="1"/>
              <a:t>,gruppo_sanguigno</a:t>
            </a:r>
            <a:r>
              <a:rPr lang="it-IT" sz="1400" dirty="0"/>
              <a:t>, </a:t>
            </a:r>
            <a:r>
              <a:rPr lang="it-IT" sz="1400" u="dash" dirty="0" err="1"/>
              <a:t>pazienteID</a:t>
            </a:r>
            <a:r>
              <a:rPr lang="it-IT" sz="1400" dirty="0"/>
              <a:t>)</a:t>
            </a:r>
            <a:endParaRPr lang="en-US" sz="1400" dirty="0"/>
          </a:p>
          <a:p>
            <a:r>
              <a:rPr lang="it-IT" sz="1400" b="1" dirty="0"/>
              <a:t>Intervento</a:t>
            </a:r>
            <a:r>
              <a:rPr lang="it-IT" sz="1400" dirty="0"/>
              <a:t>(</a:t>
            </a:r>
            <a:r>
              <a:rPr lang="it-IT" sz="1400" u="sng" dirty="0" err="1"/>
              <a:t>nome_intervento</a:t>
            </a:r>
            <a:r>
              <a:rPr lang="it-IT" sz="1400" dirty="0"/>
              <a:t>, </a:t>
            </a:r>
            <a:r>
              <a:rPr lang="it-IT" sz="1400" u="sng" dirty="0" err="1"/>
              <a:t>DATA_intervento</a:t>
            </a:r>
            <a:r>
              <a:rPr lang="it-IT" sz="1400" dirty="0" err="1"/>
              <a:t>,</a:t>
            </a:r>
            <a:r>
              <a:rPr lang="it-IT" sz="1400" u="sng" dirty="0" err="1"/>
              <a:t>codice_cartella</a:t>
            </a:r>
            <a:r>
              <a:rPr lang="it-IT" sz="1400" dirty="0"/>
              <a:t>)</a:t>
            </a:r>
            <a:endParaRPr lang="en-US" sz="1400" dirty="0"/>
          </a:p>
          <a:p>
            <a:r>
              <a:rPr lang="it-IT" sz="1400" b="1" dirty="0"/>
              <a:t>Esame</a:t>
            </a:r>
            <a:r>
              <a:rPr lang="it-IT" sz="1400" dirty="0"/>
              <a:t>(</a:t>
            </a:r>
            <a:r>
              <a:rPr lang="it-IT" sz="1400" u="sng" dirty="0" err="1"/>
              <a:t>nome_esame</a:t>
            </a:r>
            <a:r>
              <a:rPr lang="it-IT" sz="1400" dirty="0"/>
              <a:t>, </a:t>
            </a:r>
            <a:r>
              <a:rPr lang="it-IT" sz="1400" u="sng" dirty="0" err="1"/>
              <a:t>DATA_esame</a:t>
            </a:r>
            <a:r>
              <a:rPr lang="it-IT" sz="1400" dirty="0"/>
              <a:t>, </a:t>
            </a:r>
            <a:r>
              <a:rPr lang="it-IT" sz="1400" u="sng" dirty="0" err="1"/>
              <a:t>codice_cartella</a:t>
            </a:r>
            <a:r>
              <a:rPr lang="it-IT" sz="1400" dirty="0"/>
              <a:t>)</a:t>
            </a:r>
            <a:endParaRPr lang="en-US" sz="1400" dirty="0"/>
          </a:p>
          <a:p>
            <a:r>
              <a:rPr lang="it-IT" sz="1400" b="1" dirty="0" err="1"/>
              <a:t>Malattia_infettiva</a:t>
            </a:r>
            <a:r>
              <a:rPr lang="it-IT" sz="1400" dirty="0"/>
              <a:t>(</a:t>
            </a:r>
            <a:r>
              <a:rPr lang="it-IT" sz="1400" u="sng" dirty="0" err="1"/>
              <a:t>nome_malattia</a:t>
            </a:r>
            <a:r>
              <a:rPr lang="it-IT" sz="1400" dirty="0" err="1"/>
              <a:t>,</a:t>
            </a:r>
            <a:r>
              <a:rPr lang="it-IT" sz="1400" u="sng" dirty="0" err="1"/>
              <a:t>data</a:t>
            </a:r>
            <a:r>
              <a:rPr lang="it-IT" sz="1400" dirty="0" err="1"/>
              <a:t>,trattamento_effettuato</a:t>
            </a:r>
            <a:r>
              <a:rPr lang="it-IT" sz="1400" dirty="0"/>
              <a:t>, </a:t>
            </a:r>
            <a:r>
              <a:rPr lang="it-IT" sz="1400" u="sng" dirty="0" err="1"/>
              <a:t>codice_cartella</a:t>
            </a:r>
            <a:r>
              <a:rPr lang="it-IT" sz="1400" dirty="0"/>
              <a:t>)</a:t>
            </a:r>
            <a:endParaRPr lang="en-US" sz="1400" dirty="0"/>
          </a:p>
          <a:p>
            <a:r>
              <a:rPr lang="it-IT" sz="1400" b="1" dirty="0"/>
              <a:t>Terapia</a:t>
            </a:r>
            <a:r>
              <a:rPr lang="it-IT" sz="1400" dirty="0"/>
              <a:t>(</a:t>
            </a:r>
            <a:r>
              <a:rPr lang="it-IT" sz="1400" u="sng" dirty="0" err="1"/>
              <a:t>nome_terapia</a:t>
            </a:r>
            <a:r>
              <a:rPr lang="it-IT" sz="1400" dirty="0" err="1"/>
              <a:t>,</a:t>
            </a:r>
            <a:r>
              <a:rPr lang="it-IT" sz="1400" u="sng" dirty="0" err="1"/>
              <a:t>data</a:t>
            </a:r>
            <a:r>
              <a:rPr lang="it-IT" sz="1400" dirty="0" err="1"/>
              <a:t>,descrizione,</a:t>
            </a:r>
            <a:r>
              <a:rPr lang="it-IT" sz="1400" u="sng" dirty="0" err="1"/>
              <a:t>codice_cartella</a:t>
            </a:r>
            <a:r>
              <a:rPr lang="it-IT" sz="1400" u="dash" dirty="0"/>
              <a:t>)</a:t>
            </a:r>
            <a:endParaRPr lang="en-US" sz="1400" dirty="0"/>
          </a:p>
          <a:p>
            <a:r>
              <a:rPr lang="it-IT" sz="1400" b="1" dirty="0"/>
              <a:t>Allergia</a:t>
            </a:r>
            <a:r>
              <a:rPr lang="it-IT" sz="1400" dirty="0"/>
              <a:t>(</a:t>
            </a:r>
            <a:r>
              <a:rPr lang="it-IT" sz="1400" u="sng" dirty="0" err="1"/>
              <a:t>nome_allergia</a:t>
            </a:r>
            <a:r>
              <a:rPr lang="it-IT" sz="1400" dirty="0" err="1"/>
              <a:t>,</a:t>
            </a:r>
            <a:r>
              <a:rPr lang="it-IT" sz="1400" u="sng" dirty="0" err="1"/>
              <a:t>codice_cartella</a:t>
            </a:r>
            <a:r>
              <a:rPr lang="it-IT" sz="1400" dirty="0"/>
              <a:t>)</a:t>
            </a:r>
            <a:endParaRPr lang="en-US" sz="1400" dirty="0"/>
          </a:p>
          <a:p>
            <a:r>
              <a:rPr lang="it-IT" sz="1400" b="1" dirty="0"/>
              <a:t>vaccino</a:t>
            </a:r>
            <a:r>
              <a:rPr lang="it-IT" sz="1400" dirty="0"/>
              <a:t>(</a:t>
            </a:r>
            <a:r>
              <a:rPr lang="it-IT" sz="1400" u="sng" dirty="0" err="1"/>
              <a:t>nome_vaccino</a:t>
            </a:r>
            <a:r>
              <a:rPr lang="it-IT" sz="1400" dirty="0" err="1"/>
              <a:t>,data,</a:t>
            </a:r>
            <a:r>
              <a:rPr lang="it-IT" sz="1400" u="sng" dirty="0" err="1"/>
              <a:t>codice_cartella</a:t>
            </a:r>
            <a:r>
              <a:rPr lang="it-IT" sz="1400" dirty="0"/>
              <a:t>)</a:t>
            </a:r>
            <a:endParaRPr lang="en-US" sz="1400" dirty="0"/>
          </a:p>
          <a:p>
            <a:r>
              <a:rPr lang="it-IT" sz="1400" b="1" dirty="0" err="1"/>
              <a:t>PersonaleSanitario</a:t>
            </a:r>
            <a:r>
              <a:rPr lang="it-IT" sz="1400" dirty="0"/>
              <a:t>(</a:t>
            </a:r>
            <a:r>
              <a:rPr lang="it-IT" sz="1400" u="sng" dirty="0" err="1"/>
              <a:t>personaleID</a:t>
            </a:r>
            <a:r>
              <a:rPr lang="it-IT" sz="1400" dirty="0" err="1"/>
              <a:t>,PersonaleNome</a:t>
            </a:r>
            <a:r>
              <a:rPr lang="it-IT" sz="1400" dirty="0"/>
              <a:t>, </a:t>
            </a:r>
            <a:r>
              <a:rPr lang="it-IT" sz="1400" dirty="0" err="1"/>
              <a:t>PersonaleCognome,phonenumber</a:t>
            </a:r>
            <a:r>
              <a:rPr lang="it-IT" sz="1400" dirty="0"/>
              <a:t>, gender, email)</a:t>
            </a:r>
            <a:endParaRPr lang="en-US" sz="1400" dirty="0"/>
          </a:p>
          <a:p>
            <a:r>
              <a:rPr lang="it-IT" sz="1400" b="1" dirty="0" err="1"/>
              <a:t>DisponibilitàPersonale</a:t>
            </a:r>
            <a:r>
              <a:rPr lang="it-IT" sz="1400" dirty="0"/>
              <a:t>(</a:t>
            </a:r>
            <a:r>
              <a:rPr lang="it-IT" sz="1400" u="sng" dirty="0" err="1"/>
              <a:t>personaleID</a:t>
            </a:r>
            <a:r>
              <a:rPr lang="it-IT" sz="1400" dirty="0"/>
              <a:t>, </a:t>
            </a:r>
            <a:r>
              <a:rPr lang="it-IT" sz="1400" u="sng" dirty="0"/>
              <a:t>giorno</a:t>
            </a:r>
            <a:r>
              <a:rPr lang="it-IT" sz="1400" dirty="0"/>
              <a:t>, </a:t>
            </a:r>
            <a:r>
              <a:rPr lang="it-IT" sz="1400" u="sng" dirty="0" err="1"/>
              <a:t>ora_inizio</a:t>
            </a:r>
            <a:r>
              <a:rPr lang="it-IT" sz="1400" dirty="0"/>
              <a:t>, </a:t>
            </a:r>
            <a:r>
              <a:rPr lang="it-IT" sz="1400" u="sng" dirty="0" err="1"/>
              <a:t>ora_fine</a:t>
            </a:r>
            <a:r>
              <a:rPr lang="it-IT" sz="1400" dirty="0"/>
              <a:t>) </a:t>
            </a:r>
          </a:p>
          <a:p>
            <a:r>
              <a:rPr lang="it-IT" sz="1400" b="1" dirty="0"/>
              <a:t>Specialista</a:t>
            </a:r>
            <a:r>
              <a:rPr lang="it-IT" sz="1400" dirty="0"/>
              <a:t>( </a:t>
            </a:r>
            <a:r>
              <a:rPr lang="it-IT" sz="1400" u="sng" dirty="0"/>
              <a:t>specializzazione</a:t>
            </a:r>
            <a:r>
              <a:rPr lang="it-IT" sz="1400" dirty="0"/>
              <a:t>, </a:t>
            </a:r>
            <a:r>
              <a:rPr lang="it-IT" sz="1400" u="sng" dirty="0" err="1"/>
              <a:t>personaleId</a:t>
            </a:r>
            <a:r>
              <a:rPr lang="it-IT" sz="1400" u="dash" dirty="0"/>
              <a:t>)</a:t>
            </a:r>
            <a:r>
              <a:rPr lang="it-IT" sz="1400" dirty="0"/>
              <a:t> </a:t>
            </a:r>
            <a:endParaRPr lang="en-US" sz="1400" dirty="0"/>
          </a:p>
          <a:p>
            <a:r>
              <a:rPr lang="it-IT" sz="1400" b="1" dirty="0"/>
              <a:t>infermiere</a:t>
            </a:r>
            <a:r>
              <a:rPr lang="it-IT" sz="1400" dirty="0"/>
              <a:t>(</a:t>
            </a:r>
            <a:r>
              <a:rPr lang="it-IT" sz="1400" u="sng" dirty="0"/>
              <a:t>reparto</a:t>
            </a:r>
            <a:r>
              <a:rPr lang="it-IT" sz="1400" dirty="0"/>
              <a:t>, </a:t>
            </a:r>
            <a:r>
              <a:rPr lang="it-IT" sz="1400" u="sng" dirty="0" err="1"/>
              <a:t>personaleId</a:t>
            </a:r>
            <a:r>
              <a:rPr lang="it-IT" sz="1400" dirty="0"/>
              <a:t>)</a:t>
            </a:r>
            <a:endParaRPr lang="en-US" sz="1400" dirty="0"/>
          </a:p>
          <a:p>
            <a:r>
              <a:rPr lang="it-IT" sz="1400" b="1" dirty="0"/>
              <a:t>Appuntamento</a:t>
            </a:r>
            <a:r>
              <a:rPr lang="it-IT" sz="1400" dirty="0"/>
              <a:t> (</a:t>
            </a:r>
            <a:r>
              <a:rPr lang="it-IT" sz="1400" u="sng" dirty="0" err="1"/>
              <a:t>codiceAppuntamento</a:t>
            </a:r>
            <a:r>
              <a:rPr lang="it-IT" sz="1400" dirty="0"/>
              <a:t>, giorno, </a:t>
            </a:r>
            <a:r>
              <a:rPr lang="it-IT" sz="1400" dirty="0" err="1"/>
              <a:t>ora_inizio</a:t>
            </a:r>
            <a:r>
              <a:rPr lang="it-IT" sz="1400" dirty="0"/>
              <a:t>, </a:t>
            </a:r>
            <a:r>
              <a:rPr lang="it-IT" sz="1400" dirty="0" err="1"/>
              <a:t>ora_fine</a:t>
            </a:r>
            <a:r>
              <a:rPr lang="it-IT" sz="1400" dirty="0"/>
              <a:t>, </a:t>
            </a:r>
            <a:r>
              <a:rPr lang="it-IT" sz="1400" dirty="0" err="1"/>
              <a:t>dataApp,tipoApp</a:t>
            </a:r>
            <a:r>
              <a:rPr lang="it-IT" sz="1400" dirty="0"/>
              <a:t>, </a:t>
            </a:r>
            <a:r>
              <a:rPr lang="it-IT" sz="1400" u="dash" dirty="0" err="1"/>
              <a:t>pazienteID</a:t>
            </a:r>
            <a:r>
              <a:rPr lang="it-IT" sz="1400" dirty="0"/>
              <a:t> , </a:t>
            </a:r>
            <a:r>
              <a:rPr lang="it-IT" sz="1400" u="dash" dirty="0" err="1"/>
              <a:t>personaleID</a:t>
            </a:r>
            <a:r>
              <a:rPr lang="it-IT" sz="1400" dirty="0"/>
              <a:t>)     </a:t>
            </a:r>
            <a:endParaRPr lang="en-US" sz="1400" dirty="0"/>
          </a:p>
          <a:p>
            <a:r>
              <a:rPr lang="it-IT" sz="1400" b="1" dirty="0"/>
              <a:t>Visita</a:t>
            </a:r>
            <a:r>
              <a:rPr lang="it-IT" sz="1400" dirty="0"/>
              <a:t>(</a:t>
            </a:r>
            <a:r>
              <a:rPr lang="it-IT" sz="1400" u="sng" dirty="0" err="1"/>
              <a:t>codice_visita</a:t>
            </a:r>
            <a:r>
              <a:rPr lang="it-IT" sz="1400" dirty="0" err="1"/>
              <a:t>,costo</a:t>
            </a:r>
            <a:r>
              <a:rPr lang="it-IT" sz="1400" dirty="0"/>
              <a:t> ,</a:t>
            </a:r>
            <a:r>
              <a:rPr lang="it-IT" sz="1400" dirty="0" err="1"/>
              <a:t>sintomi_mostrati,parametri_vitali</a:t>
            </a:r>
            <a:r>
              <a:rPr lang="it-IT" sz="1400" dirty="0"/>
              <a:t>,</a:t>
            </a:r>
            <a:r>
              <a:rPr lang="en-US" sz="1400" dirty="0"/>
              <a:t> </a:t>
            </a:r>
            <a:r>
              <a:rPr lang="it-IT" sz="1400" dirty="0" err="1"/>
              <a:t>trattamento_effettuato,diagnosi</a:t>
            </a:r>
            <a:r>
              <a:rPr lang="it-IT" sz="1400" dirty="0"/>
              <a:t> ,</a:t>
            </a:r>
            <a:r>
              <a:rPr lang="it-IT" sz="1400" u="dash" dirty="0" err="1"/>
              <a:t>codiceAppuntamento</a:t>
            </a:r>
            <a:r>
              <a:rPr lang="it-IT" sz="1400" dirty="0"/>
              <a:t>)</a:t>
            </a:r>
            <a:endParaRPr lang="en-US" sz="1400" dirty="0"/>
          </a:p>
          <a:p>
            <a:r>
              <a:rPr lang="it-IT" sz="1400" b="1" dirty="0"/>
              <a:t>Prescrizione</a:t>
            </a:r>
            <a:r>
              <a:rPr lang="it-IT" sz="1400" dirty="0"/>
              <a:t>(</a:t>
            </a:r>
            <a:r>
              <a:rPr lang="it-IT" sz="1400" u="sng" dirty="0" err="1"/>
              <a:t>id_farmaco</a:t>
            </a:r>
            <a:r>
              <a:rPr lang="it-IT" sz="1400" dirty="0" err="1"/>
              <a:t>,dosaggio_mg</a:t>
            </a:r>
            <a:r>
              <a:rPr lang="it-IT" sz="1400" dirty="0"/>
              <a:t> ,</a:t>
            </a:r>
            <a:r>
              <a:rPr lang="it-IT" sz="1400" dirty="0" err="1"/>
              <a:t>durata_giorni</a:t>
            </a:r>
            <a:r>
              <a:rPr lang="it-IT" sz="1400" dirty="0"/>
              <a:t>, </a:t>
            </a:r>
            <a:r>
              <a:rPr lang="it-IT" sz="1400" u="sng" dirty="0" err="1"/>
              <a:t>codice_visita</a:t>
            </a:r>
            <a:r>
              <a:rPr lang="it-IT" sz="1400" dirty="0"/>
              <a:t>)  </a:t>
            </a:r>
            <a:endParaRPr lang="en-US" sz="1400" dirty="0"/>
          </a:p>
          <a:p>
            <a:r>
              <a:rPr lang="it-IT" sz="1400" b="1" dirty="0"/>
              <a:t>inventario</a:t>
            </a:r>
            <a:r>
              <a:rPr lang="it-IT" sz="1400" dirty="0"/>
              <a:t>(</a:t>
            </a:r>
            <a:r>
              <a:rPr lang="it-IT" sz="1400" u="sng" dirty="0" err="1"/>
              <a:t>id_farmaco</a:t>
            </a:r>
            <a:r>
              <a:rPr lang="it-IT" sz="1400" dirty="0" err="1"/>
              <a:t>,nome_farmaco,quantità_disp</a:t>
            </a:r>
            <a:r>
              <a:rPr lang="it-IT" sz="1400" dirty="0"/>
              <a:t>,</a:t>
            </a:r>
            <a:r>
              <a:rPr lang="en-US" sz="1400" dirty="0"/>
              <a:t> </a:t>
            </a:r>
            <a:r>
              <a:rPr lang="it-IT" sz="1400" dirty="0" err="1"/>
              <a:t>descrizione,scadenza</a:t>
            </a:r>
            <a:r>
              <a:rPr lang="it-IT" sz="1400" dirty="0"/>
              <a:t>)</a:t>
            </a:r>
            <a:endParaRPr lang="en-US" sz="1400" dirty="0"/>
          </a:p>
          <a:p>
            <a:r>
              <a:rPr lang="en-US" sz="1400" b="1" dirty="0"/>
              <a:t>Feedback</a:t>
            </a:r>
            <a:r>
              <a:rPr lang="en-US" sz="1400" dirty="0"/>
              <a:t>(</a:t>
            </a:r>
            <a:r>
              <a:rPr lang="en-US" sz="1400" u="sng" dirty="0" err="1"/>
              <a:t>id_feedback</a:t>
            </a:r>
            <a:r>
              <a:rPr lang="en-US" sz="1400" dirty="0" err="1"/>
              <a:t>,rating,commento</a:t>
            </a:r>
            <a:r>
              <a:rPr lang="en-US" sz="1400" dirty="0"/>
              <a:t> ,</a:t>
            </a:r>
            <a:r>
              <a:rPr lang="en-US" sz="1400" u="dash" dirty="0" err="1"/>
              <a:t>codice_visita</a:t>
            </a:r>
            <a:r>
              <a:rPr lang="en-US" sz="1400" dirty="0"/>
              <a:t>)</a:t>
            </a:r>
          </a:p>
          <a:p>
            <a:endParaRPr lang="en-US" sz="1400" dirty="0"/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8106645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bo</a:t>
            </a:r>
            <a:endParaRPr lang="en-US" dirty="0"/>
          </a:p>
        </p:txBody>
      </p:sp>
      <p:sp>
        <p:nvSpPr>
          <p:cNvPr id="6" name="Segnaposto contenuto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Immagin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6513" y="708025"/>
            <a:ext cx="6505487" cy="5829289"/>
          </a:xfrm>
          <a:prstGeom prst="rect">
            <a:avLst/>
          </a:prstGeom>
        </p:spPr>
      </p:pic>
      <p:pic>
        <p:nvPicPr>
          <p:cNvPr id="5" name="Immagin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672" y="1607911"/>
            <a:ext cx="5029636" cy="4669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0371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900" y="420521"/>
            <a:ext cx="5055546" cy="4520756"/>
          </a:xfrm>
          <a:prstGeom prst="rect">
            <a:avLst/>
          </a:prstGeom>
        </p:spPr>
      </p:pic>
      <p:pic>
        <p:nvPicPr>
          <p:cNvPr id="3" name="Immagin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4217" y="2504299"/>
            <a:ext cx="6447099" cy="3747032"/>
          </a:xfrm>
          <a:prstGeom prst="rect">
            <a:avLst/>
          </a:prstGeom>
        </p:spPr>
      </p:pic>
      <p:sp>
        <p:nvSpPr>
          <p:cNvPr id="5" name="Tito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contenuto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2708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146" y="282788"/>
            <a:ext cx="5616995" cy="2266979"/>
          </a:xfrm>
          <a:prstGeom prst="rect">
            <a:avLst/>
          </a:prstGeom>
        </p:spPr>
      </p:pic>
      <p:pic>
        <p:nvPicPr>
          <p:cNvPr id="3" name="Immagin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430" y="2765987"/>
            <a:ext cx="7579007" cy="3652060"/>
          </a:xfrm>
          <a:prstGeom prst="rect">
            <a:avLst/>
          </a:prstGeom>
        </p:spPr>
      </p:pic>
      <p:sp>
        <p:nvSpPr>
          <p:cNvPr id="5" name="Tito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contenuto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3935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7045" y="193432"/>
            <a:ext cx="7626492" cy="3628070"/>
          </a:xfrm>
          <a:prstGeom prst="rect">
            <a:avLst/>
          </a:prstGeom>
        </p:spPr>
      </p:pic>
      <p:pic>
        <p:nvPicPr>
          <p:cNvPr id="4" name="Immagin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7045" y="4171957"/>
            <a:ext cx="6124031" cy="2544839"/>
          </a:xfrm>
          <a:prstGeom prst="rect">
            <a:avLst/>
          </a:prstGeom>
        </p:spPr>
      </p:pic>
      <p:sp>
        <p:nvSpPr>
          <p:cNvPr id="5" name="Tito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contenuto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8754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egnaposto contenuto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5903" y="2379497"/>
            <a:ext cx="6184181" cy="4478503"/>
          </a:xfrm>
          <a:prstGeom prst="rect">
            <a:avLst/>
          </a:prstGeom>
        </p:spPr>
      </p:pic>
      <p:pic>
        <p:nvPicPr>
          <p:cNvPr id="4" name="Immagin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5903" y="131283"/>
            <a:ext cx="6585438" cy="2248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5237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508</Words>
  <Application>Microsoft Office PowerPoint</Application>
  <PresentationFormat>Widescreen</PresentationFormat>
  <Paragraphs>35</Paragraphs>
  <Slides>11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11</vt:i4>
      </vt:variant>
    </vt:vector>
  </HeadingPairs>
  <TitlesOfParts>
    <vt:vector size="17" baseType="lpstr">
      <vt:lpstr>Algerian</vt:lpstr>
      <vt:lpstr>Aptos</vt:lpstr>
      <vt:lpstr>Arial</vt:lpstr>
      <vt:lpstr>Calibri</vt:lpstr>
      <vt:lpstr>Calibri Light</vt:lpstr>
      <vt:lpstr>Tema di Office</vt:lpstr>
      <vt:lpstr>Presentazione standard di PowerPoint</vt:lpstr>
      <vt:lpstr>                          introduzione</vt:lpstr>
      <vt:lpstr>                 REGOLE DI BUSINESS</vt:lpstr>
      <vt:lpstr>               OBIETTIVO DEL DATABASE</vt:lpstr>
      <vt:lpstr>                    DIAGRAMMA ERR</vt:lpstr>
      <vt:lpstr>               MODELLO RELAZIONALE</vt:lpstr>
      <vt:lpstr>bo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pavilion13</dc:creator>
  <cp:lastModifiedBy>rossella guarino</cp:lastModifiedBy>
  <cp:revision>12</cp:revision>
  <dcterms:created xsi:type="dcterms:W3CDTF">2024-07-05T08:38:43Z</dcterms:created>
  <dcterms:modified xsi:type="dcterms:W3CDTF">2026-02-24T16:30:24Z</dcterms:modified>
</cp:coreProperties>
</file>